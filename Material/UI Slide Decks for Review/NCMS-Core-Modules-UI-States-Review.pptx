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spc="140">
                <a:solidFill>
                  <a:srgbClr val="B3B0FC"/>
                </a:solidFill>
                <a:latin typeface="Calibri"/>
              </a:rPr>
              <a:t>NCMS CONNECT · CORE CONTRACTOR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UI States Review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CFD2E6"/>
                </a:solidFill>
                <a:latin typeface="Calibri"/>
              </a:rPr>
              <a:t>Concept validation for Company Info and Service Agents — the two “core” requirements every compliance package reads from. Twenty-two states across five task groups: completing Company Info, registering Service Agents, the conditional visibility rules that show or hide agent types per package, the six approval statuses an entry can carry, and C/TPA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0BD"/>
                </a:solidFill>
                <a:latin typeface="Calibri"/>
              </a:rPr>
              <a:t>Source: ncms-core-modules-stories.html · Prepared by Swovo Design</a:t>
            </a:r>
          </a:p>
          <a:p>
            <a:pPr algn="l"/>
            <a:r>
              <a:rPr sz="1100" b="0">
                <a:solidFill>
                  <a:srgbClr val="9AA0BD"/>
                </a:solidFill>
                <a:latin typeface="Calibri"/>
              </a:rPr>
              <a:t>Click through live: </a:t>
            </a:r>
            <a:r>
              <a:rPr sz="1100" b="1">
                <a:solidFill>
                  <a:srgbClr val="B3B0FC"/>
                </a:solidFill>
                <a:latin typeface="Calibri"/>
              </a:rPr>
              <a:t>ncms-core-modules-stories.html</a:t>
            </a:r>
            <a:r>
              <a:rPr sz="1100" b="0">
                <a:solidFill>
                  <a:srgbClr val="9AA0BD"/>
                </a:solidFill>
                <a:latin typeface="Calibri"/>
              </a:rPr>
              <a:t> — every slide below has a matching card in the Story Hub.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COMPLETE COMPANY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Empty state — first-time entry</a:t>
            </a:r>
          </a:p>
        </p:txBody>
      </p:sp>
      <p:pic>
        <p:nvPicPr>
          <p:cNvPr id="6" name="Picture 5" descr="01-ci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Nothing entered yet. Leads with why this comes first and what else depends on it, rather than opening on a bare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COMPLETE COMPANY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Edit mode — fully entered</a:t>
            </a:r>
          </a:p>
        </p:txBody>
      </p:sp>
      <p:pic>
        <p:nvPicPr>
          <p:cNvPr id="6" name="Picture 5" descr="02-ci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Type of work is a plain text field, same as contractor onboarding — the contractor describes their work in their own words rather than picking from a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COMPLETE COMPANY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Validation — submit blocked</a:t>
            </a:r>
          </a:p>
        </p:txBody>
      </p:sp>
      <p:pic>
        <p:nvPicPr>
          <p:cNvPr id="6" name="Picture 5" descr="03-ci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Address, Federal ID and Type of Work missing. Nothing was sent, the draft is kept, and the count plus a jump-to-first-error sit in the footer.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COMPLETE COMPANY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Submitted — read-only, under review</a:t>
            </a:r>
          </a:p>
        </p:txBody>
      </p:sp>
      <p:pic>
        <p:nvPicPr>
          <p:cNvPr id="6" name="Picture 5" descr="04-ci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Saved record shown as values, not disabled inputs. A greyed-out form reads as broken; this reads as filed.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COMPLETE COMPANY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Approved — satisfying four packages</a:t>
            </a:r>
          </a:p>
        </p:txBody>
      </p:sp>
      <p:pic>
        <p:nvPicPr>
          <p:cNvPr id="6" name="Picture 5" descr="05-ci-appr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provenance ribbon switches tense: one approved record now satisfies the Company Info requirement in all four packages.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COMPLETE COMPANY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Editing something already approved</a:t>
            </a:r>
          </a:p>
        </p:txBody>
      </p:sp>
      <p:pic>
        <p:nvPicPr>
          <p:cNvPr id="6" name="Picture 5" descr="06-ci-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Core means the consequence is plural. Editing re-opens the requirement in every package — stated before the edit, split into what changes and what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REGISTER SERVICE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Empty state — all required types listed</a:t>
            </a:r>
          </a:p>
        </p:txBody>
      </p:sp>
      <p:pic>
        <p:nvPicPr>
          <p:cNvPr id="6" name="Picture 5" descr="07-sa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Six sections rendered empty, each naming the packages that require it and whether NCMS reviews it. Nothing is hidden behind an Add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REGISTER SERVICE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Add a C/TPA — Department / Program</a:t>
            </a:r>
          </a:p>
        </p:txBody>
      </p:sp>
      <p:pic>
        <p:nvPicPr>
          <p:cNvPr id="6" name="Picture 5" descr="08-sa-add-ct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one field unique to C/TPA. Options are built from this contractor's own enrolled packages, and the consortium-confirmation consequence is stated before saving.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REGISTER SERVICE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Populated — nine entries, six states</a:t>
            </a:r>
          </a:p>
        </p:txBody>
      </p:sp>
      <p:pic>
        <p:nvPicPr>
          <p:cNvPr id="6" name="Picture 5" descr="09-sa-pop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real working screen: two C/TPAs, two labs, mixed statuses. Status reads from the left edge as well as the pill.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REGISTER SERVICE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Removing the only agent of a type</a:t>
            </a:r>
          </a:p>
        </p:txBody>
      </p:sp>
      <p:pic>
        <p:nvPicPr>
          <p:cNvPr id="6" name="Picture 5" descr="10-sa-remove-l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Names which packages return to incomplete, rather than confirming a generic delete and letting the contractor find out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REGISTER SERVICE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Removal blocked — named in the D&amp;A plan</a:t>
            </a:r>
          </a:p>
        </p:txBody>
      </p:sp>
      <p:pic>
        <p:nvPicPr>
          <p:cNvPr id="6" name="Picture 5" descr="11-sa-remove-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Not on the card — surfaced by the design. The approved plan names this lab, so removing it would make the plan wrong. Blocked with the route out stated.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CONDITIONAL VISIBILITY ·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All four packages — 7 of 7 shown</a:t>
            </a:r>
          </a:p>
        </p:txBody>
      </p:sp>
      <p:pic>
        <p:nvPicPr>
          <p:cNvPr id="6" name="Picture 5" descr="12-cv-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inspector: enrolment on top, per-type verdict underneath with the exact package chain that produced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CONDITIONAL VISIBILITY ·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DOT only — 6 shown, 1 hidden</a:t>
            </a:r>
          </a:p>
        </p:txBody>
      </p:sp>
      <p:pic>
        <p:nvPicPr>
          <p:cNvPr id="6" name="Picture 5" descr="13-cv-dot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Pipeline Safety alone. Background Check Provider disappears and is named in the hidden strip, not silently dropped.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CONDITIONAL VISIBILITY ·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Background-check package only — 1 of 7</a:t>
            </a:r>
          </a:p>
        </p:txBody>
      </p:sp>
      <p:pic>
        <p:nvPicPr>
          <p:cNvPr id="6" name="Picture 5" descr="14-cv-bg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hardest case for the concept: a single non-DOT package collapses the module to one section and names the six that are hidden.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CONDITIONAL VISIBILITY ·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No package requires an agent</a:t>
            </a:r>
          </a:p>
        </p:txBody>
      </p:sp>
      <p:pic>
        <p:nvPicPr>
          <p:cNvPr id="6" name="Picture 5" descr="15-cv-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module has nothing to ask for. It says so and explains what would make sections appear, instead of showing an empty 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APPROVAL &amp; STATUS ·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All six states side by side</a:t>
            </a:r>
          </a:p>
        </p:txBody>
      </p:sp>
      <p:pic>
        <p:nvPicPr>
          <p:cNvPr id="6" name="Picture 5" descr="16-st-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Pending Review, Active, Auto-Approved, Rejected, More Info Requested and Pending Confirmation on one screen for comparison.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APPROVAL &amp; STATUS ·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Auto-Approved vs Active</a:t>
            </a:r>
          </a:p>
        </p:txBody>
      </p:sp>
      <p:pic>
        <p:nvPicPr>
          <p:cNvPr id="6" name="Picture 5" descr="17-st-au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Both green on purpose — the contractor's position is the same. They differ by icon and one line naming the rule that approved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APPROVAL &amp; STATUS ·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Rejected — reason and remedy inline</a:t>
            </a:r>
          </a:p>
        </p:txBody>
      </p:sp>
      <p:pic>
        <p:nvPicPr>
          <p:cNvPr id="6" name="Picture 5" descr="18-st-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 lab that isn't SAMHSA-certified at the address given. The reason, the regulation behind it, and both ways out sit on the 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APPROVAL &amp; STATUS ·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More Information Requested</a:t>
            </a:r>
          </a:p>
        </p:txBody>
      </p:sp>
      <p:pic>
        <p:nvPicPr>
          <p:cNvPr id="6" name="Picture 5" descr="19-st-more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 question, not a rejection. The agent stays usable while the contractor answers, and the response form quotes what was asked.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C/TPA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Declared — Pending Confirmation</a:t>
            </a:r>
          </a:p>
        </p:txBody>
      </p:sp>
      <p:pic>
        <p:nvPicPr>
          <p:cNvPr id="6" name="Picture 5" descr="20-cc-decl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Recorded but not yet counted. Says who is being waited on, when it was declared, and offers a reminder or a withdrawal.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C/TPA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Confirmed — now Active</a:t>
            </a:r>
          </a:p>
        </p:txBody>
      </p:sp>
      <p:pic>
        <p:nvPicPr>
          <p:cNvPr id="6" name="Picture 5" descr="21-cc-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The C/TPA responded. The entry moves to Active and starts counting toward the ExxonMobil package.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20">
                <a:solidFill>
                  <a:srgbClr val="6663BD"/>
                </a:solidFill>
                <a:latin typeface="Calibri"/>
              </a:rPr>
              <a:t>C/TPA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1242A"/>
                </a:solidFill>
                <a:latin typeface="Calibri"/>
              </a:rPr>
              <a:t>Declined — what the contractor sees</a:t>
            </a:r>
          </a:p>
        </p:txBody>
      </p:sp>
      <p:pic>
        <p:nvPicPr>
          <p:cNvPr id="6" name="Picture 5" descr="22-cc-decl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4" y="1126724"/>
            <a:ext cx="8922566" cy="4878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7389"/>
                </a:solidFill>
                <a:latin typeface="Calibri"/>
              </a:rPr>
              <a:t>A declined confirmation reads as a rejection with the C/TPA's stated reason, and two concrete routes forward.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NCMS Connect · Core Contractor Modules — UI States Review Deck</dc:title>
  <dc:subject/>
  <dc:creator>Swovo Design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