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spc="140">
                <a:solidFill>
                  <a:srgbClr val="B3B0FC"/>
                </a:solidFill>
                <a:latin typeface="Calibri"/>
              </a:rPr>
              <a:t>NCMS CONNECT · COMPLIANCE PACKAGE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UI States Review Deck —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CFD2E6"/>
                </a:solidFill>
                <a:latin typeface="Calibri"/>
              </a:rPr>
              <a:t>Documents the prototype's current state: five flows, thirty-three states — up from twenty-four in Part 2. Operator Assignment is new; New Version Creation's Change Notice step and two additional package-deactivation states were added. Event Type and Module each lost the Reactivate confirmation Part 2 showed — see Review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BD"/>
                </a:solidFill>
                <a:latin typeface="Calibri"/>
              </a:rPr>
              <a:t>Source: ncms-package-lifecycle-stories.html · Prepared by Swovo Design</a:t>
            </a:r>
          </a:p>
          <a:p>
            <a:pPr algn="l"/>
            <a:r>
              <a:rPr sz="1100" b="0">
                <a:solidFill>
                  <a:srgbClr val="9AA0BD"/>
                </a:solidFill>
                <a:latin typeface="Calibri"/>
              </a:rPr>
              <a:t>Click through live: </a:t>
            </a:r>
            <a:r>
              <a:rPr sz="1100" b="1">
                <a:solidFill>
                  <a:srgbClr val="B3B0FC"/>
                </a:solidFill>
                <a:latin typeface="Calibri"/>
              </a:rPr>
              <a:t>ncms-package-lifecycle-stories.html</a:t>
            </a:r>
            <a:r>
              <a:rPr sz="1100" b="0">
                <a:solidFill>
                  <a:srgbClr val="9AA0BD"/>
                </a:solidFill>
                <a:latin typeface="Calibri"/>
              </a:rPr>
              <a:t> — every slide below has a matching card in the Story Hub.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REVIEW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What changed since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9AA0BD"/>
                </a:solidFill>
                <a:latin typeface="Calibri"/>
              </a:rPr>
              <a:t>CONFIRMED IN THIS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1242A"/>
                </a:solidFill>
                <a:latin typeface="Calibri"/>
              </a:rPr>
              <a:t>Operator Assignment is a new flow, not an extension. </a:t>
            </a:r>
            <a:r>
              <a:rPr sz="1200" b="0">
                <a:solidFill>
                  <a:srgbClr val="647389"/>
                </a:solidFill>
                <a:latin typeface="Calibri"/>
              </a:rPr>
              <a:t>Five states — entry, selecting operators, a program-mismatch warning, an edited notification, and assigning without notifying — sit alongside the four flows Part 2 covered.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</a:pPr>
            <a:r>
              <a:rPr sz="1200" b="1">
                <a:solidFill>
                  <a:srgbClr val="21242A"/>
                </a:solidFill>
                <a:latin typeface="Calibri"/>
              </a:rPr>
              <a:t>New Version Creation now has a full Change Notice step. </a:t>
            </a:r>
            <a:r>
              <a:rPr sz="1200" b="0">
                <a:solidFill>
                  <a:srgbClr val="647389"/>
                </a:solidFill>
                <a:latin typeface="Calibri"/>
              </a:rPr>
              <a:t>Three states — the default post-publish draft, the contractor-specific draft edited, and the record of dismissing it — cover what happens after a version publishes, not just the trigger and impact.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</a:pPr>
            <a:r>
              <a:rPr sz="1200" b="1">
                <a:solidFill>
                  <a:srgbClr val="21242A"/>
                </a:solidFill>
                <a:latin typeface="Calibri"/>
              </a:rPr>
              <a:t>Package deactivation branches on what the pre-check finds. </a:t>
            </a:r>
            <a:r>
              <a:rPr sz="1200" b="0">
                <a:solidFill>
                  <a:srgbClr val="647389"/>
                </a:solidFill>
                <a:latin typeface="Calibri"/>
              </a:rPr>
              <a:t>Two more states show the plain confirm when operators keep other packages, and when a package was never assigned to anyone — both cases where nothing needs to be replaced.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</a:pPr>
            <a:r>
              <a:rPr sz="1200" b="1">
                <a:solidFill>
                  <a:srgbClr val="21242A"/>
                </a:solidFill>
                <a:latin typeface="Calibri"/>
              </a:rPr>
              <a:t>Compliance Grants gained an operator-side view. </a:t>
            </a:r>
            <a:r>
              <a:rPr sz="1200" b="0">
                <a:solidFill>
                  <a:srgbClr val="647389"/>
                </a:solidFill>
                <a:latin typeface="Calibri"/>
              </a:rPr>
              <a:t>The same grants, scoped to one operator, read-only — the mirror of the package page's own Compliance Grants tab.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095" y="1143000"/>
            <a:ext cx="5577840" cy="1005840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1280160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8A5A08"/>
                </a:solidFill>
                <a:latin typeface="Calibri"/>
              </a:rPr>
              <a:t>OPEN — NEEDS NCMS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1600200"/>
            <a:ext cx="53035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A5A08"/>
                </a:solidFill>
                <a:latin typeface="Calibri"/>
              </a:rPr>
              <a:t>Event Type and Module no longer have a Reactivate confirmation. </a:t>
            </a:r>
            <a:r>
              <a:rPr sz="1200" b="0">
                <a:solidFill>
                  <a:srgbClr val="8A5A08"/>
                </a:solidFill>
                <a:latin typeface="Calibri"/>
              </a:rPr>
              <a:t>Part 2 documented one state for each; neither exists in the prototype's current story list. Confirm whether that's an intentional scope cut (in line with events/modules having no versioning) or something to restore.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47389"/>
                </a:solidFill>
                <a:latin typeface="Calibri"/>
              </a:rPr>
              <a:t>Every state in this deck is reachable in the live prototype via the Story Hub — five flows, thirty-three cards, one per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Trigger — from the Package Library list</a:t>
            </a:r>
          </a:p>
        </p:txBody>
      </p:sp>
      <p:pic>
        <p:nvPicPr>
          <p:cNvPr id="6" name="Picture 5" descr="01-nv-trigger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Clicking "New Version" on a Published package clones it into a new Draft (v2) and opens the builder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Trigger — from the package detail page</a:t>
            </a:r>
          </a:p>
        </p:txBody>
      </p:sp>
      <p:pic>
        <p:nvPicPr>
          <p:cNvPr id="6" name="Picture 5" descr="02-nv-trigg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same action is also available from the published package’s own detail page header.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 rule with nothing to grant</a:t>
            </a:r>
          </a:p>
        </p:txBody>
      </p:sp>
      <p:pic>
        <p:nvPicPr>
          <p:cNvPr id="6" name="Picture 5" descr="03-nv-impact-collap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Switching to a rule everyone already meets says so outright, instead of leaving an empty list to interpret.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Compliance Grants step — one tab per changed rule</a:t>
            </a:r>
          </a:p>
        </p:txBody>
      </p:sp>
      <p:pic>
        <p:nvPicPr>
          <p:cNvPr id="6" name="Picture 5" descr="04-nv-impact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Its own step, shown only when events changed. Each tab carries a count of who needs cover, or a tick when nobody does.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What happens to the previous version</a:t>
            </a:r>
          </a:p>
        </p:txBody>
      </p:sp>
      <p:pic>
        <p:nvPicPr>
          <p:cNvPr id="6" name="Picture 5" descr="05-nv-prev-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No longer a choice: the previous version becomes Inactive on the new version’s effective date, so contractors are never between versions.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Change notice — the modal after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06-nv-notice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Publishing is already done by the time this appears, so drafting an email can never block or reverse it. Two drafts built from the real differences against the previous 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Change notice — the contractor draft, edited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07-nv-notice-contr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contractor version leads with what they personally have to do and by when. Editing it stops it regenerating, and says so instead of discarding the edit.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Dismissed — the record of not telling anyone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08-nv-notice-ski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modal can be dismissed and nothing is sent. That is recorded on the package page rather than left as a silent gap, so "nobody was told" is visible afterwards.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NEW VERSION CREATION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Version History after the switchover</a:t>
            </a:r>
          </a:p>
        </p:txBody>
      </p:sp>
      <p:pic>
        <p:nvPicPr>
          <p:cNvPr id="6" name="Picture 5" descr="09-pkg-inactiv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seeded Marathon chain: v2 published 03/02/2026, effective 04/01/2026 — v1 went Inactive on the effective date, four weeks after v2 was published.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PUBLISH &amp; EFFECTIVE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Effective Date — required, defaults to today</a:t>
            </a:r>
          </a:p>
        </p:txBody>
      </p:sp>
      <p:pic>
        <p:nvPicPr>
          <p:cNvPr id="6" name="Picture 5" descr="05-nv-prev-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New on the publish step. The compliance timer starts on this date, not on the publish date. Clearing it blocks Confirm and Publish.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PUBLISH &amp; EFFECTIVE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Effective Date set ahead of publish</a:t>
            </a:r>
          </a:p>
        </p:txBody>
      </p:sp>
      <p:pic>
        <p:nvPicPr>
          <p:cNvPr id="6" name="Picture 5" descr="11-pub-effective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Publishing puts the package in the library immediately, but nothing is measured against it until the effective date — the contractor’s lead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OPERATOR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Entry — Assign to Operator on the package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02-nv-trigg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 published package shows who it is assigned to; the action to add another operator sits with that list, not buried in a menu.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OPERATOR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Selecting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13-assign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Already-assigned operators are shown as such and can’t be picked twice. The running total says how many contractors the assignment actually reaches.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OPERATOR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Operator doesn’t run this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14-assign-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Assigning a Pipeline Safety package to a Client-Required-only operator is flagged, not blocked — NCMS may be onboarding them into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OPERATOR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Editing the operator notification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15-assign-notice-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notice defaults from the package and its effective date. Typing in it stops it regenerating, and says so rather than silently discarding the edit.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OPERATOR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Assigning without notifying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16-assign-no-no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Allowed, with the consequence stated plainly: contractors are still measured from the effective date, the operator just won’t have been told.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Package — Deactivate confirmation — replacements needed</a:t>
            </a:r>
          </a:p>
        </p:txBody>
      </p:sp>
      <p:pic>
        <p:nvPicPr>
          <p:cNvPr id="6" name="Picture 5" descr="17-pkg-de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pre-check runs first: this package is the only active one for two operators, so the confirm is replaced by the assign-replacements step.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Package — Deactivate confirmation — operators keep other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18-pkg-deactivate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Nothing is stranded, so the plain confirm shows, leading with what deactivating costs: operators, contractors measured, and employees holding active grants.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Package — Deactivate confirmation — no operator assigned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17-pkg-de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Never assigned to anyone, so there is nothing to strand and no replacement to choose. Same confirm, all three counts at zero.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Package — A deactivated package</a:t>
            </a:r>
          </a:p>
        </p:txBody>
      </p:sp>
      <p:pic>
        <p:nvPicPr>
          <p:cNvPr id="6" name="Picture 5" descr="20-pkg-deactivated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Read-only and one-way. Assignments, enrollments, grants, and history are all still there.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Package — Library — Include Deactivated</a:t>
            </a:r>
          </a:p>
        </p:txBody>
      </p:sp>
      <p:pic>
        <p:nvPicPr>
          <p:cNvPr id="6" name="Picture 5" descr="21-pkg-deactivated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Deactivated packages are hidden by default; the toggle surfaces them. Inactive ones stay visible — contractors were audited against them.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Event Type — Deactivation blocked — in use</a:t>
            </a:r>
          </a:p>
        </p:txBody>
      </p:sp>
      <p:pic>
        <p:nvPicPr>
          <p:cNvPr id="6" name="Picture 5" descr="22-evt-deactivate-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TB Test is required by two published packages. The pre-check runs on render, so the action is already unavailable; clicking it explains why inline, naming both packages.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Event Type — Deactivate confirmation</a:t>
            </a:r>
          </a:p>
        </p:txBody>
      </p:sp>
      <p:pic>
        <p:nvPicPr>
          <p:cNvPr id="6" name="Picture 5" descr="23-evt-de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Available once no active package requires it. States the no-versioning rule: change a configuration by creating a new event type, not by editing this one in place.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Module — Deactivation blocked — in use</a:t>
            </a:r>
          </a:p>
        </p:txBody>
      </p:sp>
      <p:pic>
        <p:nvPicPr>
          <p:cNvPr id="6" name="Picture 5" descr="24-mod-deactivate-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Same pre-check, singular case: one published package holds the ExxonMobil OIMS/SEMS module. Inline message, not a modal.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DEACTIVATION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Module — Deactivate confirmation</a:t>
            </a:r>
          </a:p>
        </p:txBody>
      </p:sp>
      <p:pic>
        <p:nvPicPr>
          <p:cNvPr id="6" name="Picture 5" descr="25-mod-de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Offered only for Custom-source modules, and only when no active package carries them. Carries the same no-versioning rule.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Entry point 1 — Issue Grant (from impact assessment)</a:t>
            </a:r>
          </a:p>
        </p:txBody>
      </p:sp>
      <p:pic>
        <p:nvPicPr>
          <p:cNvPr id="6" name="Picture 5" descr="26-grant-entry1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Employee arrives pre-filled from the impact table row; admin can still search and swap via Change.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Grant form — filled and valid</a:t>
            </a:r>
          </a:p>
        </p:txBody>
      </p:sp>
      <p:pic>
        <p:nvPicPr>
          <p:cNvPr id="6" name="Picture 5" descr="27-grant-form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Grant Type shows its plain-language description inline; Reason enforces a live 10-character minimum.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Entry point 2 — Compliance Grants tab (empty)</a:t>
            </a:r>
          </a:p>
        </p:txBody>
      </p:sp>
      <p:pic>
        <p:nvPicPr>
          <p:cNvPr id="6" name="Picture 5" descr="28-grant-entry2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New tab on the published package detail page, alongside Overview and Version History.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Standalone Issue Grant — live NCID search</a:t>
            </a:r>
          </a:p>
        </p:txBody>
      </p:sp>
      <p:pic>
        <p:nvPicPr>
          <p:cNvPr id="6" name="Picture 5" descr="29-grant-standalone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Typing filters by name, NCID, or contractor; results show all three for unambiguous confirmation.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Grants list — Active, Expired &amp; a long reason</a:t>
            </a:r>
          </a:p>
        </p:txBody>
      </p:sp>
      <p:pic>
        <p:nvPicPr>
          <p:cNvPr id="6" name="Picture 5" descr="30-grant-list-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Sorted by soonest-expiring first; long reasons truncate with a Show more toggle.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Revoke confirmation</a:t>
            </a:r>
          </a:p>
        </p:txBody>
      </p:sp>
      <p:pic>
        <p:nvPicPr>
          <p:cNvPr id="6" name="Picture 5" descr="31-grant-revoke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Explicit destructive-consequence language; the action cannot be undone.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Post-revoke — Expired, Revoked &amp; Active together</a:t>
            </a:r>
          </a:p>
        </p:txBody>
      </p:sp>
      <p:pic>
        <p:nvPicPr>
          <p:cNvPr id="6" name="Picture 5" descr="32-grant-post-rev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Revoked grants remain permanently visible with a muted, strikethrough treatment — never hidden from the list.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COMPLIANCE GRANT CREATION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The same grants, seen from the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82935" y="137160"/>
            <a:ext cx="1005840" cy="219456"/>
          </a:xfrm>
          <a:prstGeom prst="rect">
            <a:avLst/>
          </a:prstGeom>
          <a:solidFill>
            <a:srgbClr val="FDF3E2"/>
          </a:solidFill>
          <a:ln w="9525">
            <a:solidFill>
              <a:srgbClr val="E8B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20">
                <a:solidFill>
                  <a:srgbClr val="8A5A08"/>
                </a:solidFill>
                <a:latin typeface="Calibri"/>
              </a:rPr>
              <a:t>NEW STATE</a:t>
            </a:r>
          </a:p>
        </p:txBody>
      </p:sp>
      <p:pic>
        <p:nvPicPr>
          <p:cNvPr id="7" name="Picture 6" descr="33-grant-operator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Scoped to one operator, so the varying column is which package produced each grant — the mirror of the package page. Read-only: issuing needs a package in hand.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NCMS Connect · Package Builder — UI States Review Deck Part 3</dc:title>
  <dc:subject/>
  <dc:creator>Swovo Design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