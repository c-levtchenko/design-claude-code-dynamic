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31720"/>
            <a:ext cx="10515600" cy="457200"/>
          </a:xfrm>
          <a:prstGeom prst="rect">
            <a:avLst/>
          </a:prstGeom>
          <a:noFill/>
        </p:spPr>
        <p:txBody>
          <a:bodyPr wrap="square" lIns="0" rIns="0" tIns="0" bIns="0">
            <a:spAutoFit/>
          </a:bodyPr>
          <a:lstStyle/>
          <a:p>
            <a:pPr algn="l"/>
            <a:r>
              <a:rPr sz="1500" b="1" spc="140">
                <a:solidFill>
                  <a:srgbClr val="B3B0FC"/>
                </a:solidFill>
                <a:latin typeface="Calibri"/>
              </a:rPr>
              <a:t>NCMS CONNECT · COMPLIANCE PACKAGE BUILDER</a:t>
            </a:r>
          </a:p>
        </p:txBody>
      </p:sp>
      <p:sp>
        <p:nvSpPr>
          <p:cNvPr id="4" name="TextBox 3"/>
          <p:cNvSpPr txBox="1"/>
          <p:nvPr/>
        </p:nvSpPr>
        <p:spPr>
          <a:xfrm>
            <a:off x="822960" y="2788920"/>
            <a:ext cx="10515600" cy="1463040"/>
          </a:xfrm>
          <a:prstGeom prst="rect">
            <a:avLst/>
          </a:prstGeom>
          <a:noFill/>
        </p:spPr>
        <p:txBody>
          <a:bodyPr wrap="square" lIns="0" rIns="0" tIns="0" bIns="0">
            <a:spAutoFit/>
          </a:bodyPr>
          <a:lstStyle/>
          <a:p>
            <a:pPr algn="l"/>
            <a:r>
              <a:rPr sz="4400" b="1">
                <a:solidFill>
                  <a:srgbClr val="FFFFFF"/>
                </a:solidFill>
                <a:latin typeface="Calibri"/>
              </a:rPr>
              <a:t>UI States Review Deck — Part 2</a:t>
            </a:r>
          </a:p>
        </p:txBody>
      </p:sp>
      <p:sp>
        <p:nvSpPr>
          <p:cNvPr id="5" name="TextBox 4"/>
          <p:cNvSpPr txBox="1"/>
          <p:nvPr/>
        </p:nvSpPr>
        <p:spPr>
          <a:xfrm>
            <a:off x="822960" y="3977639"/>
            <a:ext cx="9875520" cy="1280160"/>
          </a:xfrm>
          <a:prstGeom prst="rect">
            <a:avLst/>
          </a:prstGeom>
          <a:noFill/>
        </p:spPr>
        <p:txBody>
          <a:bodyPr wrap="square" lIns="0" rIns="0" tIns="0" bIns="0">
            <a:spAutoFit/>
          </a:bodyPr>
          <a:lstStyle/>
          <a:p>
            <a:pPr algn="l">
              <a:lnSpc>
                <a:spcPct val="135000"/>
              </a:lnSpc>
            </a:pPr>
            <a:r>
              <a:rPr sz="1600" b="0">
                <a:solidFill>
                  <a:srgbClr val="CFD2E6"/>
                </a:solidFill>
                <a:latin typeface="Calibri"/>
              </a:rPr>
              <a:t>Re-shot against the confirmed deactivation-only lifecycle. Publish date and effective date are now separate, events and modules cannot be deactivated while an active package still uses them, and grace periods sit at the package level. Twenty-four states across four flows.</a:t>
            </a:r>
          </a:p>
        </p:txBody>
      </p:sp>
      <p:sp>
        <p:nvSpPr>
          <p:cNvPr id="6" name="TextBox 5"/>
          <p:cNvSpPr txBox="1"/>
          <p:nvPr/>
        </p:nvSpPr>
        <p:spPr>
          <a:xfrm>
            <a:off x="822960" y="6126480"/>
            <a:ext cx="9144000" cy="640080"/>
          </a:xfrm>
          <a:prstGeom prst="rect">
            <a:avLst/>
          </a:prstGeom>
          <a:noFill/>
        </p:spPr>
        <p:txBody>
          <a:bodyPr wrap="square" lIns="0" rIns="0" tIns="0" bIns="0">
            <a:spAutoFit/>
          </a:bodyPr>
          <a:lstStyle/>
          <a:p>
            <a:r>
              <a:rPr sz="1100" b="0">
                <a:solidFill>
                  <a:srgbClr val="9AA0BD"/>
                </a:solidFill>
                <a:latin typeface="Calibri"/>
              </a:rPr>
              <a:t>Source: ncms-package-lifecycle-stories.html · Prepared by Swovo Design</a:t>
            </a:r>
          </a:p>
          <a:p>
            <a:r>
              <a:rPr sz="1100" b="0">
                <a:solidFill>
                  <a:srgbClr val="9AA0BD"/>
                </a:solidFill>
                <a:latin typeface="Calibri"/>
              </a:rPr>
              <a:t>Click through live: </a:t>
            </a:r>
            <a:r>
              <a:rPr sz="1100" b="1">
                <a:solidFill>
                  <a:srgbClr val="B3B0FC"/>
                </a:solidFill>
                <a:latin typeface="Calibri"/>
              </a:rPr>
              <a:t>ncms-package-lifecycle-stories.html</a:t>
            </a:r>
            <a:r>
              <a:rPr sz="1100" b="0">
                <a:solidFill>
                  <a:srgbClr val="9AA0BD"/>
                </a:solidFill>
                <a:latin typeface="Calibri"/>
              </a:rPr>
              <a:t> — every slide below has a matching card in the Story Hub.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REVIEW NOTES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What changed since the last review</a:t>
            </a:r>
          </a:p>
        </p:txBody>
      </p:sp>
      <p:sp>
        <p:nvSpPr>
          <p:cNvPr id="6" name="TextBox 5"/>
          <p:cNvSpPr txBox="1"/>
          <p:nvPr/>
        </p:nvSpPr>
        <p:spPr>
          <a:xfrm>
            <a:off x="502920" y="1280160"/>
            <a:ext cx="5303520" cy="219456"/>
          </a:xfrm>
          <a:prstGeom prst="rect">
            <a:avLst/>
          </a:prstGeom>
          <a:noFill/>
        </p:spPr>
        <p:txBody>
          <a:bodyPr wrap="square" lIns="0" rIns="0" tIns="0" bIns="0">
            <a:spAutoFit/>
          </a:bodyPr>
          <a:lstStyle/>
          <a:p>
            <a:pPr algn="l"/>
            <a:r>
              <a:rPr sz="1000" b="1" spc="140">
                <a:solidFill>
                  <a:srgbClr val="9AA0BD"/>
                </a:solidFill>
                <a:latin typeface="Calibri"/>
              </a:rPr>
              <a:t>CONFIRMED IN THIS PASS</a:t>
            </a:r>
          </a:p>
        </p:txBody>
      </p:sp>
      <p:sp>
        <p:nvSpPr>
          <p:cNvPr id="7" name="TextBox 6"/>
          <p:cNvSpPr txBox="1"/>
          <p:nvPr/>
        </p:nvSpPr>
        <p:spPr>
          <a:xfrm>
            <a:off x="502920" y="1600200"/>
            <a:ext cx="5303520" cy="3840480"/>
          </a:xfrm>
          <a:prstGeom prst="rect">
            <a:avLst/>
          </a:prstGeom>
          <a:noFill/>
        </p:spPr>
        <p:txBody>
          <a:bodyPr wrap="square" lIns="0" rIns="0" tIns="0" bIns="0">
            <a:spAutoFit/>
          </a:bodyPr>
          <a:lstStyle/>
          <a:p>
            <a:pPr>
              <a:lnSpc>
                <a:spcPct val="122000"/>
              </a:lnSpc>
            </a:pPr>
            <a:r>
              <a:rPr sz="1200" b="1">
                <a:solidFill>
                  <a:srgbClr val="21242A"/>
                </a:solidFill>
                <a:latin typeface="Calibri"/>
              </a:rPr>
              <a:t>Deactivation only. </a:t>
            </a:r>
            <a:r>
              <a:rPr sz="1200">
                <a:solidFill>
                  <a:srgbClr val="647389"/>
                </a:solidFill>
                <a:latin typeface="Calibri"/>
              </a:rPr>
              <a:t>“Deprecated” and “archived” are gone. A package is Draft, Published, Inactive (superseded by a later version) or Deactivated (retired by an admin). Packages have no reactivate.</a:t>
            </a:r>
          </a:p>
          <a:p>
            <a:pPr>
              <a:lnSpc>
                <a:spcPct val="122000"/>
              </a:lnSpc>
              <a:spcBef>
                <a:spcPts val="900"/>
              </a:spcBef>
            </a:pPr>
            <a:r>
              <a:rPr sz="1200" b="1">
                <a:solidFill>
                  <a:srgbClr val="21242A"/>
                </a:solidFill>
                <a:latin typeface="Calibri"/>
              </a:rPr>
              <a:t>Events and modules cannot be deactivated while in use. </a:t>
            </a:r>
            <a:r>
              <a:rPr sz="1200">
                <a:solidFill>
                  <a:srgbClr val="647389"/>
                </a:solidFill>
                <a:latin typeface="Calibri"/>
              </a:rPr>
              <a:t>A pre-check names the active packages holding the item and the action stays unavailable until it is removed from all of them. The message is inline, not a modal.</a:t>
            </a:r>
          </a:p>
          <a:p>
            <a:pPr>
              <a:lnSpc>
                <a:spcPct val="122000"/>
              </a:lnSpc>
              <a:spcBef>
                <a:spcPts val="900"/>
              </a:spcBef>
            </a:pPr>
            <a:r>
              <a:rPr sz="1200" b="1">
                <a:solidFill>
                  <a:srgbClr val="21242A"/>
                </a:solidFill>
                <a:latin typeface="Calibri"/>
              </a:rPr>
              <a:t>Events and modules are not versioned. </a:t>
            </a:r>
            <a:r>
              <a:rPr sz="1200">
                <a:solidFill>
                  <a:srgbClr val="647389"/>
                </a:solidFill>
                <a:latin typeface="Calibri"/>
              </a:rPr>
              <a:t>Changing a configuration means creating a new one and deactivating the original. The Version History row action is gone from both libraries as a result.</a:t>
            </a:r>
          </a:p>
          <a:p>
            <a:pPr>
              <a:lnSpc>
                <a:spcPct val="122000"/>
              </a:lnSpc>
              <a:spcBef>
                <a:spcPts val="900"/>
              </a:spcBef>
            </a:pPr>
            <a:r>
              <a:rPr sz="1200" b="1">
                <a:solidFill>
                  <a:srgbClr val="21242A"/>
                </a:solidFill>
                <a:latin typeface="Calibri"/>
              </a:rPr>
              <a:t>Effective date is separate from publish date. </a:t>
            </a:r>
            <a:r>
              <a:rPr sz="1200">
                <a:solidFill>
                  <a:srgbClr val="647389"/>
                </a:solidFill>
                <a:latin typeface="Calibri"/>
              </a:rPr>
              <a:t>Required on publish, defaults to today. It is when the compliance timer starts and when the previous version goes Inactive.</a:t>
            </a:r>
          </a:p>
          <a:p>
            <a:pPr>
              <a:lnSpc>
                <a:spcPct val="122000"/>
              </a:lnSpc>
              <a:spcBef>
                <a:spcPts val="900"/>
              </a:spcBef>
            </a:pPr>
            <a:r>
              <a:rPr sz="1200" b="1">
                <a:solidFill>
                  <a:srgbClr val="21242A"/>
                </a:solidFill>
                <a:latin typeface="Calibri"/>
              </a:rPr>
              <a:t>Grace periods are set at the package level. </a:t>
            </a:r>
            <a:r>
              <a:rPr sz="1200">
                <a:solidFill>
                  <a:srgbClr val="647389"/>
                </a:solidFill>
                <a:latin typeface="Calibri"/>
              </a:rPr>
              <a:t>One grant covers an employee across every rule in the package. Confirmed in Wes's written feedback.</a:t>
            </a:r>
          </a:p>
        </p:txBody>
      </p:sp>
      <p:sp>
        <p:nvSpPr>
          <p:cNvPr id="8" name="Rectangle 7"/>
          <p:cNvSpPr/>
          <p:nvPr/>
        </p:nvSpPr>
        <p:spPr>
          <a:xfrm>
            <a:off x="6248095" y="1143000"/>
            <a:ext cx="5577840" cy="2011680"/>
          </a:xfrm>
          <a:prstGeom prst="rect">
            <a:avLst/>
          </a:prstGeom>
          <a:solidFill>
            <a:srgbClr val="FDF3E2"/>
          </a:solidFill>
          <a:ln w="9525">
            <a:solidFill>
              <a:srgbClr val="E8B9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5255" y="1280160"/>
            <a:ext cx="5303520" cy="219456"/>
          </a:xfrm>
          <a:prstGeom prst="rect">
            <a:avLst/>
          </a:prstGeom>
          <a:noFill/>
        </p:spPr>
        <p:txBody>
          <a:bodyPr wrap="square" lIns="0" rIns="0" tIns="0" bIns="0">
            <a:spAutoFit/>
          </a:bodyPr>
          <a:lstStyle/>
          <a:p>
            <a:pPr algn="l"/>
            <a:r>
              <a:rPr sz="1000" b="1" spc="140">
                <a:solidFill>
                  <a:srgbClr val="8A5A08"/>
                </a:solidFill>
                <a:latin typeface="Calibri"/>
              </a:rPr>
              <a:t>OPEN — NEEDS NCMS CONFIRMATION</a:t>
            </a:r>
          </a:p>
        </p:txBody>
      </p:sp>
      <p:sp>
        <p:nvSpPr>
          <p:cNvPr id="10" name="TextBox 9"/>
          <p:cNvSpPr txBox="1"/>
          <p:nvPr/>
        </p:nvSpPr>
        <p:spPr>
          <a:xfrm>
            <a:off x="6385255" y="1600200"/>
            <a:ext cx="5303520" cy="3840480"/>
          </a:xfrm>
          <a:prstGeom prst="rect">
            <a:avLst/>
          </a:prstGeom>
          <a:noFill/>
        </p:spPr>
        <p:txBody>
          <a:bodyPr wrap="square" lIns="0" rIns="0" tIns="0" bIns="0">
            <a:spAutoFit/>
          </a:bodyPr>
          <a:lstStyle/>
          <a:p>
            <a:pPr>
              <a:lnSpc>
                <a:spcPct val="122000"/>
              </a:lnSpc>
            </a:pPr>
            <a:r>
              <a:rPr sz="1200" b="1">
                <a:solidFill>
                  <a:srgbClr val="8A5A08"/>
                </a:solidFill>
                <a:latin typeface="Calibri"/>
              </a:rPr>
              <a:t>Can NCMS staff test a package between its publish date and its effective date? </a:t>
            </a:r>
            <a:r>
              <a:rPr sz="1200">
                <a:solidFill>
                  <a:srgbClr val="8A5A08"/>
                </a:solidFill>
                <a:latin typeface="Calibri"/>
              </a:rPr>
              <a:t>The lead time is now a real window in the flow, and nothing in the design says whether it is usable for internal verification before contractors see it.</a:t>
            </a:r>
          </a:p>
          <a:p>
            <a:pPr>
              <a:lnSpc>
                <a:spcPct val="122000"/>
              </a:lnSpc>
              <a:spcBef>
                <a:spcPts val="900"/>
              </a:spcBef>
            </a:pPr>
            <a:r>
              <a:rPr sz="1200" b="1">
                <a:solidFill>
                  <a:srgbClr val="8A5A08"/>
                </a:solidFill>
                <a:latin typeface="Calibri"/>
              </a:rPr>
              <a:t>Contractors with NCMS Connect access but no operator package. </a:t>
            </a:r>
            <a:r>
              <a:rPr sz="1200">
                <a:solidFill>
                  <a:srgbClr val="8A5A08"/>
                </a:solidFill>
                <a:latin typeface="Calibri"/>
              </a:rPr>
              <a:t>Should a general package apply to them by default? Raised by Wes; needs an answer before the edge case can be designed.</a:t>
            </a:r>
          </a:p>
        </p:txBody>
      </p:sp>
      <p:sp>
        <p:nvSpPr>
          <p:cNvPr id="11" name="TextBox 10"/>
          <p:cNvSpPr txBox="1"/>
          <p:nvPr/>
        </p:nvSpPr>
        <p:spPr>
          <a:xfrm>
            <a:off x="502920" y="6172200"/>
            <a:ext cx="11155680" cy="548640"/>
          </a:xfrm>
          <a:prstGeom prst="rect">
            <a:avLst/>
          </a:prstGeom>
          <a:noFill/>
        </p:spPr>
        <p:txBody>
          <a:bodyPr wrap="square" lIns="0" rIns="0" tIns="0" bIns="0">
            <a:spAutoFit/>
          </a:bodyPr>
          <a:lstStyle/>
          <a:p>
            <a:pPr algn="l"/>
            <a:r>
              <a:rPr sz="1250" b="0">
                <a:solidFill>
                  <a:srgbClr val="647389"/>
                </a:solidFill>
                <a:latin typeface="Calibri"/>
              </a:rPr>
              <a:t>Every state in this deck is reachable in the live prototype via the Story Hub — four flows, twenty-four cards, one per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NEW VERSION CREATION FLOW</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Trigger — Package Library row action</a:t>
            </a:r>
          </a:p>
        </p:txBody>
      </p:sp>
      <p:pic>
        <p:nvPicPr>
          <p:cNvPr id="6" name="Picture 5" descr="00-nv-trigger-list.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Clicking New Version on a Published package clones it into a new Draft (vN+1) and opens the builder directly. Statuses are now Draft, Published, Inactive and Deactivated — Archived is gone.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NEW VERSION CREATION FLOW</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Trigger — published package detail page</a:t>
            </a:r>
          </a:p>
        </p:txBody>
      </p:sp>
      <p:pic>
        <p:nvPicPr>
          <p:cNvPr id="6" name="Picture 5" descr="01-nv-trigger-detail.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The same action is available from the package's own detail header, which now carries the effective date alongside the publish date. Archive is no longer offered.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NEW VERSION CREATION FLOW</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Impact of this version's changes (collapsed)</a:t>
            </a:r>
          </a:p>
        </p:txBody>
      </p:sp>
      <p:pic>
        <p:nvPicPr>
          <p:cNvPr id="6" name="Picture 5" descr="02-nv-impact-collapsed.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New-version-only section. Estimates the effect of this version's requirement changes on already-enrolled contractors and employees, rule by rule.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NEW VERSION CREATION FLOW</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Impact assessment — expanded to employees</a:t>
            </a:r>
          </a:p>
        </p:txBody>
      </p:sp>
      <p:pic>
        <p:nvPicPr>
          <p:cNvPr id="6" name="Picture 5" descr="03-nv-impact-expanded.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Rows marked Needs grace period expand into the specific affected employees, each with an Issue Grant action. One grant covers that employee across every rule in the package.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NEW VERSION CREATION FLOW</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What happens to the previous version</a:t>
            </a:r>
          </a:p>
        </p:txBody>
      </p:sp>
      <p:pic>
        <p:nvPicPr>
          <p:cNvPr id="6" name="Picture 5" descr="04-nv-prev-version.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No longer a choice. The previous version becomes Inactive on the new version's effective date — not on its publish date — so contractors are never between versions.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NEW VERSION CREATION FLOW</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Version History after the switchover</a:t>
            </a:r>
          </a:p>
        </p:txBody>
      </p:sp>
      <p:sp>
        <p:nvSpPr>
          <p:cNvPr id="6" name="Rectangle 5"/>
          <p:cNvSpPr/>
          <p:nvPr/>
        </p:nvSpPr>
        <p:spPr>
          <a:xfrm>
            <a:off x="10682935" y="137160"/>
            <a:ext cx="1005840" cy="219456"/>
          </a:xfrm>
          <a:prstGeom prst="rect">
            <a:avLst/>
          </a:prstGeom>
          <a:solidFill>
            <a:srgbClr val="FDF3E2"/>
          </a:solidFill>
          <a:ln w="9525">
            <a:solidFill>
              <a:srgbClr val="E8B95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spc="120">
                <a:solidFill>
                  <a:srgbClr val="8A5A08"/>
                </a:solidFill>
                <a:latin typeface="Calibri"/>
              </a:rPr>
              <a:t>NEW STATE</a:t>
            </a:r>
          </a:p>
        </p:txBody>
      </p:sp>
      <p:pic>
        <p:nvPicPr>
          <p:cNvPr id="7" name="Picture 6" descr="05-pkg-inactive-detail.jpg"/>
          <p:cNvPicPr>
            <a:picLocks noChangeAspect="1"/>
          </p:cNvPicPr>
          <p:nvPr/>
        </p:nvPicPr>
        <p:blipFill>
          <a:blip r:embed="rId2"/>
          <a:stretch>
            <a:fillRect/>
          </a:stretch>
        </p:blipFill>
        <p:spPr>
          <a:xfrm>
            <a:off x="1634564" y="1126724"/>
            <a:ext cx="8922566" cy="4878871"/>
          </a:xfrm>
          <a:prstGeom prst="rect">
            <a:avLst/>
          </a:prstGeom>
        </p:spPr>
      </p:pic>
      <p:sp>
        <p:nvSpPr>
          <p:cNvPr id="8" name="TextBox 7"/>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Marathon Oil: v2 was published 03/02/2026 with an 04/01/2026 effective date, and v1 went Inactive on 04/01/2026. The seeded dates show the rule holding in real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PUBLISH &amp; EFFECTIVE DATE</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Effective Date — required, defaults to today</a:t>
            </a:r>
          </a:p>
        </p:txBody>
      </p:sp>
      <p:sp>
        <p:nvSpPr>
          <p:cNvPr id="6" name="Rectangle 5"/>
          <p:cNvSpPr/>
          <p:nvPr/>
        </p:nvSpPr>
        <p:spPr>
          <a:xfrm>
            <a:off x="10682935" y="137160"/>
            <a:ext cx="1005840" cy="219456"/>
          </a:xfrm>
          <a:prstGeom prst="rect">
            <a:avLst/>
          </a:prstGeom>
          <a:solidFill>
            <a:srgbClr val="FDF3E2"/>
          </a:solidFill>
          <a:ln w="9525">
            <a:solidFill>
              <a:srgbClr val="E8B95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spc="120">
                <a:solidFill>
                  <a:srgbClr val="8A5A08"/>
                </a:solidFill>
                <a:latin typeface="Calibri"/>
              </a:rPr>
              <a:t>NEW STATE</a:t>
            </a:r>
          </a:p>
        </p:txBody>
      </p:sp>
      <p:pic>
        <p:nvPicPr>
          <p:cNvPr id="7" name="Picture 6" descr="06-pub-effective-today.jpg"/>
          <p:cNvPicPr>
            <a:picLocks noChangeAspect="1"/>
          </p:cNvPicPr>
          <p:nvPr/>
        </p:nvPicPr>
        <p:blipFill>
          <a:blip r:embed="rId2"/>
          <a:stretch>
            <a:fillRect/>
          </a:stretch>
        </p:blipFill>
        <p:spPr>
          <a:xfrm>
            <a:off x="1634564" y="1126724"/>
            <a:ext cx="8922566" cy="4878871"/>
          </a:xfrm>
          <a:prstGeom prst="rect">
            <a:avLst/>
          </a:prstGeom>
        </p:spPr>
      </p:pic>
      <p:sp>
        <p:nvSpPr>
          <p:cNvPr id="8" name="TextBox 7"/>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New field on Review &amp; Publish. It is the date the compliance timer starts for enrolled contractors, not the date you publish. Clearing it disables Confirm and Publish; backdating is blocked.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PUBLISH &amp; EFFECTIVE DATE</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Effective date set ahead of publish</a:t>
            </a:r>
          </a:p>
        </p:txBody>
      </p:sp>
      <p:sp>
        <p:nvSpPr>
          <p:cNvPr id="6" name="Rectangle 5"/>
          <p:cNvSpPr/>
          <p:nvPr/>
        </p:nvSpPr>
        <p:spPr>
          <a:xfrm>
            <a:off x="10682935" y="137160"/>
            <a:ext cx="1005840" cy="219456"/>
          </a:xfrm>
          <a:prstGeom prst="rect">
            <a:avLst/>
          </a:prstGeom>
          <a:solidFill>
            <a:srgbClr val="FDF3E2"/>
          </a:solidFill>
          <a:ln w="9525">
            <a:solidFill>
              <a:srgbClr val="E8B95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spc="120">
                <a:solidFill>
                  <a:srgbClr val="8A5A08"/>
                </a:solidFill>
                <a:latin typeface="Calibri"/>
              </a:rPr>
              <a:t>NEW STATE</a:t>
            </a:r>
          </a:p>
        </p:txBody>
      </p:sp>
      <p:pic>
        <p:nvPicPr>
          <p:cNvPr id="7" name="Picture 6" descr="07-pub-effective-future.jpg"/>
          <p:cNvPicPr>
            <a:picLocks noChangeAspect="1"/>
          </p:cNvPicPr>
          <p:nvPr/>
        </p:nvPicPr>
        <p:blipFill>
          <a:blip r:embed="rId2"/>
          <a:stretch>
            <a:fillRect/>
          </a:stretch>
        </p:blipFill>
        <p:spPr>
          <a:xfrm>
            <a:off x="1634564" y="1126724"/>
            <a:ext cx="8922566" cy="4878871"/>
          </a:xfrm>
          <a:prstGeom prst="rect">
            <a:avLst/>
          </a:prstGeom>
        </p:spPr>
      </p:pic>
      <p:sp>
        <p:nvSpPr>
          <p:cNvPr id="8" name="TextBox 7"/>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Publishing puts the package in the library immediately, but nothing is measured against it until the effective date. Open item: can NCMS staff test the package inside that window?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Package — Deactivate confirmation</a:t>
            </a:r>
          </a:p>
        </p:txBody>
      </p:sp>
      <p:pic>
        <p:nvPicPr>
          <p:cNvPr id="6" name="Picture 5" descr="08-pkg-deactivate.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Rewritten for the deactivation-only model: what changes, what stays the same, an explicit note that the package's events and modules are untouched, and no reactivate — the way back is a new version.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Package — a deactivated package</a:t>
            </a:r>
          </a:p>
        </p:txBody>
      </p:sp>
      <p:sp>
        <p:nvSpPr>
          <p:cNvPr id="6" name="Rectangle 5"/>
          <p:cNvSpPr/>
          <p:nvPr/>
        </p:nvSpPr>
        <p:spPr>
          <a:xfrm>
            <a:off x="10682935" y="137160"/>
            <a:ext cx="1005840" cy="219456"/>
          </a:xfrm>
          <a:prstGeom prst="rect">
            <a:avLst/>
          </a:prstGeom>
          <a:solidFill>
            <a:srgbClr val="FDF3E2"/>
          </a:solidFill>
          <a:ln w="9525">
            <a:solidFill>
              <a:srgbClr val="E8B95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spc="120">
                <a:solidFill>
                  <a:srgbClr val="8A5A08"/>
                </a:solidFill>
                <a:latin typeface="Calibri"/>
              </a:rPr>
              <a:t>NEW STATE</a:t>
            </a:r>
          </a:p>
        </p:txBody>
      </p:sp>
      <p:pic>
        <p:nvPicPr>
          <p:cNvPr id="7" name="Picture 6" descr="09-pkg-deactivated-detail.jpg"/>
          <p:cNvPicPr>
            <a:picLocks noChangeAspect="1"/>
          </p:cNvPicPr>
          <p:nvPr/>
        </p:nvPicPr>
        <p:blipFill>
          <a:blip r:embed="rId2"/>
          <a:stretch>
            <a:fillRect/>
          </a:stretch>
        </p:blipFill>
        <p:spPr>
          <a:xfrm>
            <a:off x="1634564" y="1126724"/>
            <a:ext cx="8922566" cy="4878871"/>
          </a:xfrm>
          <a:prstGeom prst="rect">
            <a:avLst/>
          </a:prstGeom>
        </p:spPr>
      </p:pic>
      <p:sp>
        <p:nvSpPr>
          <p:cNvPr id="8" name="TextBox 7"/>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Read-only. Operator assignments, contractor enrollments, compliance grants and audit history are all preserved and still visible.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Package Library — Include Deactivated</a:t>
            </a:r>
          </a:p>
        </p:txBody>
      </p:sp>
      <p:sp>
        <p:nvSpPr>
          <p:cNvPr id="6" name="Rectangle 5"/>
          <p:cNvSpPr/>
          <p:nvPr/>
        </p:nvSpPr>
        <p:spPr>
          <a:xfrm>
            <a:off x="10682935" y="137160"/>
            <a:ext cx="1005840" cy="219456"/>
          </a:xfrm>
          <a:prstGeom prst="rect">
            <a:avLst/>
          </a:prstGeom>
          <a:solidFill>
            <a:srgbClr val="FDF3E2"/>
          </a:solidFill>
          <a:ln w="9525">
            <a:solidFill>
              <a:srgbClr val="E8B95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spc="120">
                <a:solidFill>
                  <a:srgbClr val="8A5A08"/>
                </a:solidFill>
                <a:latin typeface="Calibri"/>
              </a:rPr>
              <a:t>NEW STATE</a:t>
            </a:r>
          </a:p>
        </p:txBody>
      </p:sp>
      <p:pic>
        <p:nvPicPr>
          <p:cNvPr id="7" name="Picture 6" descr="10-pkg-deactivated-library.jpg"/>
          <p:cNvPicPr>
            <a:picLocks noChangeAspect="1"/>
          </p:cNvPicPr>
          <p:nvPr/>
        </p:nvPicPr>
        <p:blipFill>
          <a:blip r:embed="rId2"/>
          <a:stretch>
            <a:fillRect/>
          </a:stretch>
        </p:blipFill>
        <p:spPr>
          <a:xfrm>
            <a:off x="1634564" y="1126724"/>
            <a:ext cx="8922566" cy="4878871"/>
          </a:xfrm>
          <a:prstGeom prst="rect">
            <a:avLst/>
          </a:prstGeom>
        </p:spPr>
      </p:pic>
      <p:sp>
        <p:nvSpPr>
          <p:cNvPr id="8" name="TextBox 7"/>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Deactivated packages are hidden by default and surfaced by the toggle. Inactive versions stay visible — contractors were audited against them.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Event Type — deactivation blocked, in use</a:t>
            </a:r>
          </a:p>
        </p:txBody>
      </p:sp>
      <p:sp>
        <p:nvSpPr>
          <p:cNvPr id="6" name="Rectangle 5"/>
          <p:cNvSpPr/>
          <p:nvPr/>
        </p:nvSpPr>
        <p:spPr>
          <a:xfrm>
            <a:off x="10682935" y="137160"/>
            <a:ext cx="1005840" cy="219456"/>
          </a:xfrm>
          <a:prstGeom prst="rect">
            <a:avLst/>
          </a:prstGeom>
          <a:solidFill>
            <a:srgbClr val="FDF3E2"/>
          </a:solidFill>
          <a:ln w="9525">
            <a:solidFill>
              <a:srgbClr val="E8B95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spc="120">
                <a:solidFill>
                  <a:srgbClr val="8A5A08"/>
                </a:solidFill>
                <a:latin typeface="Calibri"/>
              </a:rPr>
              <a:t>NEW STATE</a:t>
            </a:r>
          </a:p>
        </p:txBody>
      </p:sp>
      <p:pic>
        <p:nvPicPr>
          <p:cNvPr id="7" name="Picture 6" descr="11-evt-deactivate-blocked.jpg"/>
          <p:cNvPicPr>
            <a:picLocks noChangeAspect="1"/>
          </p:cNvPicPr>
          <p:nvPr/>
        </p:nvPicPr>
        <p:blipFill>
          <a:blip r:embed="rId2"/>
          <a:stretch>
            <a:fillRect/>
          </a:stretch>
        </p:blipFill>
        <p:spPr>
          <a:xfrm>
            <a:off x="1634564" y="1126724"/>
            <a:ext cx="8922566" cy="4878871"/>
          </a:xfrm>
          <a:prstGeom prst="rect">
            <a:avLst/>
          </a:prstGeom>
        </p:spPr>
      </p:pic>
      <p:sp>
        <p:nvSpPr>
          <p:cNvPr id="8" name="TextBox 7"/>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The pre-check runs on render, so the action is already unavailable. Clicking it explains why inline — not in a modal — naming both published packages that still require TB Test.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Event Type — Deactivate confirmation</a:t>
            </a:r>
          </a:p>
        </p:txBody>
      </p:sp>
      <p:pic>
        <p:nvPicPr>
          <p:cNvPr id="6" name="Picture 5" descr="12-evt-deactivate.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Offered only once no active package requires the event type. Now states the confirmed no-versioning rule: create a new event type rather than changing this one in place.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Event Type — Reactivate confirmation</a:t>
            </a:r>
          </a:p>
        </p:txBody>
      </p:sp>
      <p:pic>
        <p:nvPicPr>
          <p:cNvPr id="6" name="Picture 5" descr="13-evt-reactivate.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Reverses a Deactivate; the event type becomes selectable in the Add Event picker again.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Module — deactivation blocked, in use</a:t>
            </a:r>
          </a:p>
        </p:txBody>
      </p:sp>
      <p:sp>
        <p:nvSpPr>
          <p:cNvPr id="6" name="Rectangle 5"/>
          <p:cNvSpPr/>
          <p:nvPr/>
        </p:nvSpPr>
        <p:spPr>
          <a:xfrm>
            <a:off x="10682935" y="137160"/>
            <a:ext cx="1005840" cy="219456"/>
          </a:xfrm>
          <a:prstGeom prst="rect">
            <a:avLst/>
          </a:prstGeom>
          <a:solidFill>
            <a:srgbClr val="FDF3E2"/>
          </a:solidFill>
          <a:ln w="9525">
            <a:solidFill>
              <a:srgbClr val="E8B95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spc="120">
                <a:solidFill>
                  <a:srgbClr val="8A5A08"/>
                </a:solidFill>
                <a:latin typeface="Calibri"/>
              </a:rPr>
              <a:t>NEW STATE</a:t>
            </a:r>
          </a:p>
        </p:txBody>
      </p:sp>
      <p:pic>
        <p:nvPicPr>
          <p:cNvPr id="7" name="Picture 6" descr="14-mod-deactivate-blocked.jpg"/>
          <p:cNvPicPr>
            <a:picLocks noChangeAspect="1"/>
          </p:cNvPicPr>
          <p:nvPr/>
        </p:nvPicPr>
        <p:blipFill>
          <a:blip r:embed="rId2"/>
          <a:stretch>
            <a:fillRect/>
          </a:stretch>
        </p:blipFill>
        <p:spPr>
          <a:xfrm>
            <a:off x="1634564" y="1126724"/>
            <a:ext cx="8922566" cy="4878871"/>
          </a:xfrm>
          <a:prstGeom prst="rect">
            <a:avLst/>
          </a:prstGeom>
        </p:spPr>
      </p:pic>
      <p:sp>
        <p:nvSpPr>
          <p:cNvPr id="8" name="TextBox 7"/>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The same pre-check, singular case: one published package holds the ExxonMobil OIMS/SEMS module. The Packages column and the blocking message agree.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Module — Deactivate confirmation</a:t>
            </a:r>
          </a:p>
        </p:txBody>
      </p:sp>
      <p:pic>
        <p:nvPicPr>
          <p:cNvPr id="6" name="Picture 5" descr="15-mod-deactivate.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Offered only for Custom-source modules, and only when no active package carries them. Carries the same no-versioning rule as event types.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DEACTIVATION FLOWS</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Module — Reactivate confirmation</a:t>
            </a:r>
          </a:p>
        </p:txBody>
      </p:sp>
      <p:pic>
        <p:nvPicPr>
          <p:cNvPr id="6" name="Picture 5" descr="16-mod-reactivate.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Reverses a Deactivate; the module becomes selectable in the Add Module picker again.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COMPLIANCE GRANT CREATION &amp; MANAGEMENT</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Entry point 1 — Issue Grant (from impact assessment)</a:t>
            </a:r>
          </a:p>
        </p:txBody>
      </p:sp>
      <p:pic>
        <p:nvPicPr>
          <p:cNvPr id="6" name="Picture 5" descr="17-grant-entry1-impact.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Employee arrives pre-filled from the impact table row; the admin can still search and swap via Change.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COMPLIANCE GRANT CREATION &amp; MANAGEMENT</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Grant form — filled and valid</a:t>
            </a:r>
          </a:p>
        </p:txBody>
      </p:sp>
      <p:pic>
        <p:nvPicPr>
          <p:cNvPr id="6" name="Picture 5" descr="18-grant-form-filled.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Grant Type states that grace periods are set at the package level, not per rule. Valid Until notes that the package's compliance timer runs from its effective date. Reason enforces a live 10-character minimum.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COMPLIANCE GRANT CREATION &amp; MANAGEMENT</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Entry point 2 — Compliance Grants tab (empty)</a:t>
            </a:r>
          </a:p>
        </p:txBody>
      </p:sp>
      <p:pic>
        <p:nvPicPr>
          <p:cNvPr id="6" name="Picture 5" descr="19-grant-entry2-empty.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Tab on the published package detail page, alongside Overview and Version History. The intro names this package's effective date.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COMPLIANCE GRANT CREATION &amp; MANAGEMENT</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Standalone Issue Grant — live NCID search</a:t>
            </a:r>
          </a:p>
        </p:txBody>
      </p:sp>
      <p:pic>
        <p:nvPicPr>
          <p:cNvPr id="6" name="Picture 5" descr="20-grant-standalone-search.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Typing filters by name, NCID or contractor; results show all three for unambiguous confirmation.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COMPLIANCE GRANT CREATION &amp; MANAGEMENT</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Grants list — Active, Expired &amp; a long reason</a:t>
            </a:r>
          </a:p>
        </p:txBody>
      </p:sp>
      <p:pic>
        <p:nvPicPr>
          <p:cNvPr id="6" name="Picture 5" descr="21-grant-list-mixed.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Sorted by soonest-expiring first; long reasons truncate with a Show more toggle.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COMPLIANCE GRANT CREATION &amp; MANAGEMENT</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Revoke confirmation</a:t>
            </a:r>
          </a:p>
        </p:txBody>
      </p:sp>
      <p:pic>
        <p:nvPicPr>
          <p:cNvPr id="6" name="Picture 5" descr="22-grant-revoke-confirm.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Explicit destructive-consequence language; the action cannot be undone.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lIns="0" rIns="0" tIns="0" bIns="0">
            <a:spAutoFit/>
          </a:bodyPr>
          <a:lstStyle/>
          <a:p>
            <a:pPr algn="l"/>
            <a:r>
              <a:rPr sz="1100" b="1" spc="120">
                <a:solidFill>
                  <a:srgbClr val="6663BD"/>
                </a:solidFill>
                <a:latin typeface="Calibri"/>
              </a:rPr>
              <a:t>COMPLIANCE GRANT CREATION &amp; MANAGEMENT</a:t>
            </a:r>
          </a:p>
        </p:txBody>
      </p:sp>
      <p:sp>
        <p:nvSpPr>
          <p:cNvPr id="5" name="TextBox 4"/>
          <p:cNvSpPr txBox="1"/>
          <p:nvPr/>
        </p:nvSpPr>
        <p:spPr>
          <a:xfrm>
            <a:off x="457200" y="329184"/>
            <a:ext cx="11247120" cy="548640"/>
          </a:xfrm>
          <a:prstGeom prst="rect">
            <a:avLst/>
          </a:prstGeom>
          <a:noFill/>
        </p:spPr>
        <p:txBody>
          <a:bodyPr wrap="square" lIns="0" rIns="0" tIns="0" bIns="0">
            <a:spAutoFit/>
          </a:bodyPr>
          <a:lstStyle/>
          <a:p>
            <a:pPr algn="l"/>
            <a:r>
              <a:rPr sz="2200" b="1">
                <a:solidFill>
                  <a:srgbClr val="21242A"/>
                </a:solidFill>
                <a:latin typeface="Calibri"/>
              </a:rPr>
              <a:t>Post-revoke — Expired, Revoked &amp; Active together</a:t>
            </a:r>
          </a:p>
        </p:txBody>
      </p:sp>
      <p:pic>
        <p:nvPicPr>
          <p:cNvPr id="6" name="Picture 5" descr="23-grant-post-revoke.jpg"/>
          <p:cNvPicPr>
            <a:picLocks noChangeAspect="1"/>
          </p:cNvPicPr>
          <p:nvPr/>
        </p:nvPicPr>
        <p:blipFill>
          <a:blip r:embed="rId2"/>
          <a:stretch>
            <a:fillRect/>
          </a:stretch>
        </p:blipFill>
        <p:spPr>
          <a:xfrm>
            <a:off x="1634564" y="1126724"/>
            <a:ext cx="8922566" cy="4878871"/>
          </a:xfrm>
          <a:prstGeom prst="rect">
            <a:avLst/>
          </a:prstGeom>
        </p:spPr>
      </p:pic>
      <p:sp>
        <p:nvSpPr>
          <p:cNvPr id="7" name="TextBox 6"/>
          <p:cNvSpPr txBox="1"/>
          <p:nvPr/>
        </p:nvSpPr>
        <p:spPr>
          <a:xfrm>
            <a:off x="502920" y="6172200"/>
            <a:ext cx="11155680" cy="548640"/>
          </a:xfrm>
          <a:prstGeom prst="rect">
            <a:avLst/>
          </a:prstGeom>
          <a:noFill/>
        </p:spPr>
        <p:txBody>
          <a:bodyPr wrap="square" lIns="0" rIns="0" tIns="0" bIns="0">
            <a:spAutoFit/>
          </a:bodyPr>
          <a:lstStyle/>
          <a:p>
            <a:pPr algn="l">
              <a:lnSpc>
                <a:spcPct val="125000"/>
              </a:lnSpc>
            </a:pPr>
            <a:r>
              <a:rPr sz="1250" b="0">
                <a:solidFill>
                  <a:srgbClr val="647389"/>
                </a:solidFill>
                <a:latin typeface="Calibri"/>
              </a:rPr>
              <a:t>Revoked grants stay permanently visible with a muted, strikethrough treatment — never hidden from the 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