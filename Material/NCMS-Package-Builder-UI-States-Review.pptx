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0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4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4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4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4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4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4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5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5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5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5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5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5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5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57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58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59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60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6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6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6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64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6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image" Target="../media/image6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image" Target="../media/image67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68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69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70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image" Target="../media/image7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7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73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74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image" Target="../media/image75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image" Target="../media/image76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image" Target="../media/image7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3B0FC"/>
                </a:solidFill>
                <a:latin typeface="Calibri"/>
              </a:defRPr>
            </a:pPr>
            <a:r>
              <a:t>NCMS CONNECT · COMPLIANCE PACKAGE BUILDER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8892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Calibri"/>
              </a:defRPr>
            </a:pPr>
            <a:r>
              <a:t>UI States Review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FD2E6"/>
                </a:solidFill>
                <a:latin typeface="Calibri"/>
              </a:defRPr>
            </a:pPr>
            <a:r>
              <a:t>Every distinct screen and interaction state captured from the live prototype — Package Library, published package detail, and the 3-step Package Builder (Basic Info → Events &amp; Modules → Review &amp; Publish). Leave comments directly on the slide(s) that need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AA0BD"/>
                </a:solidFill>
                <a:latin typeface="Calibri"/>
              </a:defRPr>
            </a:pPr>
            <a:r>
              <a:t>Source: package-builder-prototype.html · Prepared by Swovo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Default view — All Packages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Entry point for NCMS Admin. Shows all compliance packages across both programme types.</a:t>
            </a:r>
          </a:p>
        </p:txBody>
      </p:sp>
      <p:pic>
        <p:nvPicPr>
          <p:cNvPr id="8" name="Picture 7" descr="slide0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Sidebar navigation expanded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Full nav labels: Dashboard, Review Queue, Package Library, Module Library, Event Type Library.</a:t>
            </a:r>
          </a:p>
        </p:txBody>
      </p:sp>
      <p:pic>
        <p:nvPicPr>
          <p:cNvPr id="8" name="Picture 7" descr="slide0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Filter — Pipeline Safety (DOT)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Type filter as primary tabs, matching the Module/Event Type library pattern.</a:t>
            </a:r>
          </a:p>
        </p:txBody>
      </p:sp>
      <p:pic>
        <p:nvPicPr>
          <p:cNvPr id="8" name="Picture 7" descr="slide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Filter — Client Required (Non-DOT)</a:t>
            </a:r>
          </a:p>
        </p:txBody>
      </p:sp>
      <p:pic>
        <p:nvPicPr>
          <p:cNvPr id="6" name="Picture 5" descr="slide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43" y="1174034"/>
            <a:ext cx="9769609" cy="53420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Status filter — 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Status moved to a secondary select per Aug 4 feedback.</a:t>
            </a:r>
          </a:p>
        </p:txBody>
      </p:sp>
      <p:pic>
        <p:nvPicPr>
          <p:cNvPr id="8" name="Picture 7" descr="slide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Status filter — Published</a:t>
            </a:r>
          </a:p>
        </p:txBody>
      </p:sp>
      <p:pic>
        <p:nvPicPr>
          <p:cNvPr id="6" name="Picture 5" descr="slide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43" y="1174034"/>
            <a:ext cx="9769609" cy="53420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Status filter — Deactivated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Deactivated packages are read-only — no edit action, view only.</a:t>
            </a:r>
          </a:p>
        </p:txBody>
      </p:sp>
      <p:pic>
        <p:nvPicPr>
          <p:cNvPr id="8" name="Picture 7" descr="slide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Empty state — no search results</a:t>
            </a:r>
          </a:p>
        </p:txBody>
      </p:sp>
      <p:pic>
        <p:nvPicPr>
          <p:cNvPr id="6" name="Picture 5" descr="slide0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43" y="1174034"/>
            <a:ext cx="9769609" cy="53420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LIBRARY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Publish success toast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Confirmation banner shown after a package is published, auto-dismisses after 5s.</a:t>
            </a:r>
          </a:p>
        </p:txBody>
      </p:sp>
      <p:pic>
        <p:nvPicPr>
          <p:cNvPr id="8" name="Picture 7" descr="slide1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DETAIL (READ-ONLY)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Overview tab — collapsed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Published package detail: description, assigned operators, events, modules.</a:t>
            </a:r>
          </a:p>
        </p:txBody>
      </p:sp>
      <p:pic>
        <p:nvPicPr>
          <p:cNvPr id="8" name="Picture 7" descr="slide1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DETAIL (READ-ONLY)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Event expanded — Drug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Shows validity, renewal window, contractor-facing fields, and prerequisite (“Depends On”).</a:t>
            </a:r>
          </a:p>
        </p:txBody>
      </p:sp>
      <p:pic>
        <p:nvPicPr>
          <p:cNvPr id="8" name="Picture 7" descr="slide1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DETAIL (READ-ONLY)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Module expanded — Test Panel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Shows panel configuration and “Required By” — which events depend on this module.</a:t>
            </a:r>
          </a:p>
        </p:txBody>
      </p:sp>
      <p:pic>
        <p:nvPicPr>
          <p:cNvPr id="8" name="Picture 7" descr="slide1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PACKAGE DETAIL (READ-ONLY)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Version History tab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Full version chain with status, publish date, and current-version indicator.</a:t>
            </a:r>
          </a:p>
        </p:txBody>
      </p:sp>
      <p:pic>
        <p:nvPicPr>
          <p:cNvPr id="8" name="Picture 7" descr="slide1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NEW PACKAGE · STEP 1: BASIC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Blank form + live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Continuous 3-step builder (Basic Info → Events &amp; Modules → Review &amp; Publish); preview visible from Step 1.</a:t>
            </a:r>
          </a:p>
        </p:txBody>
      </p:sp>
      <p:pic>
        <p:nvPicPr>
          <p:cNvPr id="8" name="Picture 7" descr="slide1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NEW PACKAGE · STEP 1: BASIC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Filled in — live preview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Name and description reflected instantly in the contractor-facing preview panel.</a:t>
            </a:r>
          </a:p>
        </p:txBody>
      </p:sp>
      <p:pic>
        <p:nvPicPr>
          <p:cNvPr id="8" name="Picture 7" descr="slide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NEW PACKAGE · STEP 1: BASIC INFO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Discard confirmation dialog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Cancel on Step 1 (uncommitted package) prompts to discard — matches Module Builder pattern.</a:t>
            </a:r>
          </a:p>
        </p:txBody>
      </p:sp>
      <p:pic>
        <p:nvPicPr>
          <p:cNvPr id="8" name="Picture 7" descr="slide1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Empty state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No events or modules added yet.</a:t>
            </a:r>
          </a:p>
        </p:txBody>
      </p:sp>
      <p:pic>
        <p:nvPicPr>
          <p:cNvPr id="8" name="Picture 7" descr="slide1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Add Module picker — none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Bulk selection (checkboxes) added per Aug 4 feedback.</a:t>
            </a:r>
          </a:p>
        </p:txBody>
      </p:sp>
      <p:pic>
        <p:nvPicPr>
          <p:cNvPr id="8" name="Picture 7" descr="slide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Add Module picker — 5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“Add N” bulk-add button.</a:t>
            </a:r>
          </a:p>
        </p:txBody>
      </p:sp>
      <p:pic>
        <p:nvPicPr>
          <p:cNvPr id="8" name="Picture 7" descr="slide2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173726"/>
            <a:ext cx="8934600" cy="488545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Modules added — Test Panel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Newly added modules auto-expand into their configuration editor.</a:t>
            </a:r>
          </a:p>
        </p:txBody>
      </p:sp>
      <p:pic>
        <p:nvPicPr>
          <p:cNvPr id="8" name="Picture 7" descr="slide2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Module editor — D&amp;A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Plan requirements + per-item acknowledgment toggles.</a:t>
            </a:r>
          </a:p>
        </p:txBody>
      </p:sp>
      <p:pic>
        <p:nvPicPr>
          <p:cNvPr id="8" name="Picture 7" descr="slide2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Module editor — Service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Tri-state Required / Optional / Not Required per agent type (DER, MRO, Lab, SAP, EAP, TPA).</a:t>
            </a:r>
          </a:p>
        </p:txBody>
      </p:sp>
      <p:pic>
        <p:nvPicPr>
          <p:cNvPr id="8" name="Picture 7" descr="slide2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Module editor — Random Process (DOT)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Per-regulatory-agency blocks (PHMSA, FMCSA, …) with CFR minimums shown as reference.</a:t>
            </a:r>
          </a:p>
        </p:txBody>
      </p:sp>
      <p:pic>
        <p:nvPicPr>
          <p:cNvPr id="8" name="Picture 7" descr="slide2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All 5 modules — collapsed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Collapsed row summary with time-based badges; Live Preview reflects every module added.</a:t>
            </a:r>
          </a:p>
        </p:txBody>
      </p:sp>
      <p:pic>
        <p:nvPicPr>
          <p:cNvPr id="8" name="Picture 7" descr="slide2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Module editor — Statistical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MIS submission toggle and due date.</a:t>
            </a:r>
          </a:p>
        </p:txBody>
      </p:sp>
      <p:pic>
        <p:nvPicPr>
          <p:cNvPr id="8" name="Picture 7" descr="slide2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Statistical Data — Regulatory Authorities + 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Regulatory Authority field relocated here from individual events per Aug 4 feedback.</a:t>
            </a:r>
          </a:p>
        </p:txBody>
      </p:sp>
      <p:pic>
        <p:nvPicPr>
          <p:cNvPr id="8" name="Picture 7" descr="slide2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Add Event picker — none selected</a:t>
            </a:r>
          </a:p>
        </p:txBody>
      </p:sp>
      <p:pic>
        <p:nvPicPr>
          <p:cNvPr id="6" name="Picture 5" descr="slide2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043" y="1355009"/>
            <a:ext cx="9769609" cy="498008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Add Event picker — 2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Drug Test + Alcohol Test queued for bulk add.</a:t>
            </a:r>
          </a:p>
        </p:txBody>
      </p:sp>
      <p:pic>
        <p:nvPicPr>
          <p:cNvPr id="8" name="Picture 7" descr="slide2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Drug Test event editor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Validity, renewal window, Required toggle, and prerequisite picker.</a:t>
            </a:r>
          </a:p>
        </p:txBody>
      </p:sp>
      <p:pic>
        <p:nvPicPr>
          <p:cNvPr id="8" name="Picture 7" descr="slide3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Prerequisite linked — “Depends on: Test Panel”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Dependency badge on the event + reciprocal “Required by: Drug Test” chip on the Test Panel module in Live Preview.</a:t>
            </a:r>
          </a:p>
        </p:txBody>
      </p:sp>
      <p:pic>
        <p:nvPicPr>
          <p:cNvPr id="8" name="Picture 7" descr="slide3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2: EVENTS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Alcohol Test event editor (Drug Test collapsed)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Drug Test row shows its dependency badge collapsed; Alcohol Test open for configuration.</a:t>
            </a:r>
          </a:p>
        </p:txBody>
      </p:sp>
      <p:pic>
        <p:nvPicPr>
          <p:cNvPr id="8" name="Picture 7" descr="slide3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3: REVIEW &amp;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Review &amp; Publish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Irreversible-action warning, package metadata, and expandable Events/Modules list.</a:t>
            </a:r>
          </a:p>
        </p:txBody>
      </p:sp>
      <p:pic>
        <p:nvPicPr>
          <p:cNvPr id="8" name="Picture 7" descr="slide3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3: REVIEW &amp;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Review card expanded — Drug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Same badge set shown in the builder, surfaced again for final review.</a:t>
            </a:r>
          </a:p>
        </p:txBody>
      </p:sp>
      <p:pic>
        <p:nvPicPr>
          <p:cNvPr id="8" name="Picture 7" descr="slide3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STEP 3: REVIEW &amp; PUBLISH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Blocked publish — missing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Soft (optional) warnings shown inline; hard blocks disable Confirm and Publish with no visible reason banner — flagged for design follow-up.</a:t>
            </a:r>
          </a:p>
        </p:txBody>
      </p:sp>
      <p:pic>
        <p:nvPicPr>
          <p:cNvPr id="8" name="Picture 7" descr="slide3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EDITING AN EXISTING DRAFT (V2)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Step 1 — Regulation Scope locked</a:t>
            </a:r>
          </a:p>
        </p:txBody>
      </p:sp>
      <p:pic>
        <p:nvPicPr>
          <p:cNvPr id="6" name="Picture 5" descr="screenshot-1785963827403-4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547" y="1170432"/>
            <a:ext cx="8934600" cy="4892040"/>
          </a:xfrm>
          <a:prstGeom prst="rect">
            <a:avLst/>
          </a:prstGeom>
          <a:ln w="12700">
            <a:solidFill>
              <a:srgbClr val="E7E9EF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Type radio is locked once events/modules exist on a package; must remove them on Step 2 to change scope.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EDITING AN EXISTING DRAFT (V2)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Step 2 — Employee Applicability (collapsed)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New section, v2+ packages only. Background Check event already shows a per-event “Grandfathering: Old Employees” badge.</a:t>
            </a:r>
          </a:p>
        </p:txBody>
      </p:sp>
      <p:pic>
        <p:nvPicPr>
          <p:cNvPr id="8" name="Picture 7" descr="slide3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EDITING AN EXISTING DRAFT (V2)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Employee Applicability — Apply to all events (on)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Package-level grandfathering scope + effective date, with a one-click “Apply to All Events Now” action.</a:t>
            </a:r>
          </a:p>
        </p:txBody>
      </p:sp>
      <p:pic>
        <p:nvPicPr>
          <p:cNvPr id="8" name="Picture 7" descr="slide3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EDITING AN EXISTING DRAFT (V2)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Per-event Grandfathering controls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Individual event can still override applies-to scope and effective date after a package-level apply.</a:t>
            </a:r>
          </a:p>
        </p:txBody>
      </p:sp>
      <p:pic>
        <p:nvPicPr>
          <p:cNvPr id="8" name="Picture 7" descr="slide3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7E9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14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663BD"/>
                </a:solidFill>
                <a:latin typeface="Calibri"/>
              </a:defRPr>
            </a:pPr>
            <a:r>
              <a:t>BUILDER — EDITING AN EXISTING DRAFT (V2)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1242A"/>
                </a:solidFill>
                <a:latin typeface="Calibri"/>
              </a:defRPr>
            </a:pPr>
            <a:r>
              <a:t>“Draft saved” confirmation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1722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i="1">
                <a:solidFill>
                  <a:srgbClr val="647389"/>
                </a:solidFill>
                <a:latin typeface="Calibri"/>
              </a:defRPr>
            </a:pPr>
            <a:r>
              <a:t>Save as Draft now saves in place with an inline confirmation instead of returning to the Library.</a:t>
            </a:r>
          </a:p>
        </p:txBody>
      </p:sp>
      <p:pic>
        <p:nvPicPr>
          <p:cNvPr id="8" name="Picture 7" descr="slide3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547" y="1339233"/>
            <a:ext cx="8934600" cy="45544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